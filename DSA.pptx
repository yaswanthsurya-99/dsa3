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16"/>
    <p:sldId id="267" r:id="rId18"/>
    <p:sldId id="260" r:id="rId6"/>
    <p:sldId id="261" r:id="rId7"/>
    <p:sldId id="266" r:id="rId17"/>
    <p:sldId id="268" r:id="rId19"/>
    <p:sldId id="262" r:id="rId8"/>
    <p:sldId id="263" r:id="rId9"/>
    <p:sldId id="269" r:id="rId20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5.xml"/><Relationship Id="rId17" Type="http://schemas.openxmlformats.org/officeDocument/2006/relationships/slide" Target="slides/slide9.xml"/><Relationship Id="rId18" Type="http://schemas.openxmlformats.org/officeDocument/2006/relationships/slide" Target="slides/slide6.xml"/><Relationship Id="rId19" Type="http://schemas.openxmlformats.org/officeDocument/2006/relationships/slide" Target="slides/slide10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937760"/>
            <a:ext cx="3291840" cy="329184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Recommendation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the right courses to the right learners using graphs, hashing, heaps, and similarity ranking.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30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5532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2520030324 — G. Srivarun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5532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2520030569 — P. Teja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897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2520030571 — Revanth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5897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2520030581 — P. Yaswanth Surya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Recommendation System?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today face an overwhelming number of online and institutional course options across platforms and departments.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606040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searching for a relevant course is slow and often leads to a poor fit between learner interest and course content.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657600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Course Recommendation System automates this by matching learner profiles and history with the most relevant available courses.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78240" y="1737360"/>
            <a:ext cx="2834640" cy="40233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F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2B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 →  MATCH  →  COURSE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436608" y="2852928"/>
            <a:ext cx="868680" cy="502920"/>
          </a:xfrm>
          <a:prstGeom prst="line">
            <a:avLst/>
          </a:prstGeom>
          <a:noFill/>
          <a:ln w="19050">
            <a:solidFill>
              <a:srgbClr val="BFDA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36608" y="3858768"/>
            <a:ext cx="868680" cy="-502920"/>
          </a:xfrm>
          <a:prstGeom prst="line">
            <a:avLst/>
          </a:prstGeom>
          <a:noFill/>
          <a:ln w="19050">
            <a:solidFill>
              <a:srgbClr val="BFDA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05288" y="3355848"/>
            <a:ext cx="868680" cy="-594360"/>
          </a:xfrm>
          <a:prstGeom prst="line">
            <a:avLst/>
          </a:prstGeom>
          <a:noFill/>
          <a:ln w="19050">
            <a:solidFill>
              <a:srgbClr val="BFDA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05288" y="3355848"/>
            <a:ext cx="868680" cy="594360"/>
          </a:xfrm>
          <a:prstGeom prst="line">
            <a:avLst/>
          </a:prstGeom>
          <a:noFill/>
          <a:ln w="19050">
            <a:solidFill>
              <a:srgbClr val="BFDA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265176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235440" y="365760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104120" y="315468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1010412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972800" y="256032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972800" y="374904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915400" y="5257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Learner–Course similarity graph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Recommendation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02343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large catalog of courses and a learner's interests, past courses, and ratings, efficiently identify and rank the courses most likely to be relevant — while respecting prerequisite order and avoiding duplicate suggestions.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60120" y="4251960"/>
            <a:ext cx="4526280" cy="0"/>
          </a:xfrm>
          <a:prstGeom prst="line">
            <a:avLst/>
          </a:prstGeom>
          <a:noFill/>
          <a:ln w="12700">
            <a:solidFill>
              <a:srgbClr val="0E5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4348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challenge: search + ranking at scale, modeled with the right data structures.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03720" y="15453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relationships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18928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courses, prerequisites and learner interests as a graph.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263347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03720" y="2578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efficiently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03720" y="2926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heaps/priority queues to surface top-N recommendations fast.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66674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 results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39593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courses using similarity between learner and course profiles.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470001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4700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03720" y="4645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it scalable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49926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hashing and sorting so the system stays fast as data grows.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Recommendation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F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as nodes; edges encode prerequisites and topic similarity for traversal-based suggestions.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F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57800" y="18928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Map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average lookup mapping learner IDs, course IDs and tags to their records.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F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9202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06840" y="18928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Queue (Heap)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top-N highest-scoring courses without sorting the entire catalog.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F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023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39959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4663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fast prefix search and autocomplete over course titles and keywords.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379476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F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0233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57800" y="39959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/ ArrayList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4663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ordered course lists, rating vectors and intermediate score tables.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79476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F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0233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006840" y="39959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Sorted List / BST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4663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ranked results and supports quick range queries on scores.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Recommendation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/>
      <p:sp>
        <p:nvSpPr>
          <p:cNvPr id="2" name="Text 2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CORE • COURSE OUTCOME 2 (CO2)</a:t>
            </a:r>
            <a:endParaRPr lang="en-US" sz="1200" dirty="0"/>
          </a:p>
        </p:txBody>
      </p:sp>
      <p:sp>
        <p:nvSpPr>
          <p:cNvPr id="3" name="Text 3"/>
          <p:cNvSpPr/>
          <p:nvPr/>
        </p:nvSpPr>
        <p:spPr>
          <a:xfrm>
            <a:off x="6400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Course Search with KMP</a:t>
            </a:r>
            <a:endParaRPr lang="en-US" sz="2800" dirty="0"/>
          </a:p>
        </p:txBody>
      </p:sp>
      <p:sp>
        <p:nvSpPr>
          <p:cNvPr id="4" name="Text 4"/>
          <p:cNvSpPr/>
          <p:nvPr/>
        </p:nvSpPr>
        <p:spPr>
          <a:xfrm>
            <a:off x="640080" y="126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over course titles, tags and descriptions: finds every keyword occurrence in a single linear pass — no backtracking.</a:t>
            </a:r>
            <a:endParaRPr lang="en-US" sz="1300" dirty="0"/>
          </a:p>
        </p:txBody>
      </p:sp>
      <p:sp>
        <p:nvSpPr>
          <p:cNvPr id="5" name="Card 5"/>
          <p:cNvSpPr/>
          <p:nvPr/>
        </p:nvSpPr>
        <p:spPr>
          <a:xfrm>
            <a:off x="640080" y="1783080"/>
            <a:ext cx="5364480" cy="3108960"/>
          </a:xfrm>
          <a:prstGeom prst="roundRect">
            <a:avLst>
              <a:gd name="adj" fmla="val 3200"/>
            </a:avLst>
          </a:prstGeom>
          <a:solidFill>
            <a:srgbClr val="064D50"/>
          </a:solidFill>
          <a:ln/>
        </p:spPr>
      </p:sp>
      <p:sp>
        <p:nvSpPr>
          <p:cNvPr id="6" name="Text 6"/>
          <p:cNvSpPr/>
          <p:nvPr/>
        </p:nvSpPr>
        <p:spPr>
          <a:xfrm>
            <a:off x="914400" y="2011680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 IT</a:t>
            </a:r>
            <a:endParaRPr lang="en-US" sz="1300" dirty="0"/>
          </a:p>
        </p:txBody>
      </p:sp>
      <p:sp>
        <p:nvSpPr>
          <p:cNvPr id="7" name="Bullets 7"/>
          <p:cNvSpPr/>
          <p:nvPr/>
        </p:nvSpPr>
        <p:spPr>
          <a:xfrm>
            <a:off x="914400" y="2468880"/>
            <a:ext cx="4815840" cy="22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in the course catalog — matching a learner's query (e.g. “graph”) against thousands of course titles and descriptions.</a:t>
            </a:r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courses by skill tags or syllabus phrases before they are scored and pushed into the ranking heap.</a:t>
            </a:r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duplicate or near-identical course names across departments so the same course is not recommended twice.</a:t>
            </a:r>
          </a:p>
        </p:txBody>
      </p:sp>
      <p:sp>
        <p:nvSpPr>
          <p:cNvPr id="8" name="Card 8"/>
          <p:cNvSpPr/>
          <p:nvPr/>
        </p:nvSpPr>
        <p:spPr>
          <a:xfrm>
            <a:off x="6187440" y="1783080"/>
            <a:ext cx="5364480" cy="3108960"/>
          </a:xfrm>
          <a:prstGeom prst="roundRect">
            <a:avLst>
              <a:gd name="adj" fmla="val 3200"/>
            </a:avLst>
          </a:prstGeom>
          <a:solidFill>
            <a:srgbClr val="064D50"/>
          </a:solidFill>
          <a:ln/>
        </p:spPr>
      </p:sp>
      <p:sp>
        <p:nvSpPr>
          <p:cNvPr id="9" name="Text 9"/>
          <p:cNvSpPr/>
          <p:nvPr/>
        </p:nvSpPr>
        <p:spPr>
          <a:xfrm>
            <a:off x="6461760" y="2011680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ALGORITHM</a:t>
            </a:r>
            <a:endParaRPr lang="en-US" sz="1300" dirty="0"/>
          </a:p>
        </p:txBody>
      </p:sp>
      <p:sp>
        <p:nvSpPr>
          <p:cNvPr id="10" name="Bullets 10"/>
          <p:cNvSpPr/>
          <p:nvPr/>
        </p:nvSpPr>
        <p:spPr>
          <a:xfrm>
            <a:off x="6461760" y="2468880"/>
            <a:ext cx="4815840" cy="22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search re-scans text after every mismatch — O(n·m). KMP never moves backwards in the text, giving guaranteed O(n + m).</a:t>
            </a:r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LPS (failure) table is built once per query and reused for every course, so cost stays linear even for a large catalog.</a:t>
            </a:r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raw strings with no index rebuild — ideal for free-text descriptions that a Trie (prefix-only) cannot search inside.</a:t>
            </a:r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worst-case time keeps search latency predictable, unlike hashing-based methods that can degrade on collisions.</a:t>
            </a:r>
          </a:p>
        </p:txBody>
      </p:sp>
      <p:sp>
        <p:nvSpPr>
          <p:cNvPr id="11" name="Card 11"/>
          <p:cNvSpPr/>
          <p:nvPr/>
        </p:nvSpPr>
        <p:spPr>
          <a:xfrm>
            <a:off x="640080" y="5120640"/>
            <a:ext cx="10911840" cy="731520"/>
          </a:xfrm>
          <a:prstGeom prst="roundRect">
            <a:avLst>
              <a:gd name="adj" fmla="val 3200"/>
            </a:avLst>
          </a:prstGeom>
          <a:solidFill>
            <a:srgbClr val="064D50"/>
          </a:solidFill>
          <a:ln/>
        </p:spPr>
      </p:sp>
      <p:sp>
        <p:nvSpPr>
          <p:cNvPr id="12" name="Text 12"/>
          <p:cNvSpPr/>
          <p:nvPr/>
        </p:nvSpPr>
        <p:spPr>
          <a:xfrm>
            <a:off x="914400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13" name="Text 13"/>
          <p:cNvSpPr/>
          <p:nvPr/>
        </p:nvSpPr>
        <p:spPr>
          <a:xfrm>
            <a:off x="3840480" y="5120640"/>
            <a:ext cx="873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+ m) time, O(m) space — where n is the total catalog text length and m is the query pattern length.</a:t>
            </a:r>
            <a:endParaRPr lang="en-US" sz="1250" dirty="0"/>
          </a:p>
        </p:txBody>
      </p:sp>
      <p:sp>
        <p:nvSpPr>
          <p:cNvPr id="14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Recommendation System</a:t>
            </a:r>
            <a:endParaRPr lang="en-US" sz="900" dirty="0"/>
          </a:p>
        </p:txBody>
      </p:sp>
      <p:sp>
        <p:nvSpPr>
          <p:cNvPr id="15" name="Text 1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Calibri"/>
              </a:rPr>
              <a:t>DSA CORE • COURSE OUTCOME 2 (CO2) • 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KMP — Pattern Matching in O(n +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E8E5"/>
                </a:solidFill>
                <a:latin typeface="Calibri"/>
              </a:rPr>
              <a:t>Two phases: build the LPS (failure) table for the query, then scan the catalog text once without backtracking.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6309360" cy="3703320"/>
          </a:xfrm>
          <a:prstGeom prst="roundRect">
            <a:avLst>
              <a:gd name="adj" fmla="val 6000"/>
            </a:avLst>
          </a:prstGeom>
          <a:solidFill>
            <a:srgbClr val="012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5852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function BUILD_LPS(P):                 </a:t>
            </a:r>
            <a:r>
              <a:rPr sz="1050">
                <a:solidFill>
                  <a:srgbClr val="9FC7C4"/>
                </a:solidFill>
                <a:latin typeface="Consolas"/>
              </a:rPr>
              <a:t># m = |P|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  lps = [0] * m;  k = 0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    for i in 1 .. m-1: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        while k &gt; 0 and P[i] != P[k]: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          k = lps[k-1]                </a:t>
            </a:r>
            <a:r>
              <a:rPr sz="1050">
                <a:solidFill>
                  <a:srgbClr val="9FC7C4"/>
                </a:solidFill>
                <a:latin typeface="Consolas"/>
              </a:rPr>
              <a:t># fall back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        if P[i] == P[k]:  k = k + 1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      lps[i] = k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    return lps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function KMP_SEARCH(T, P):             </a:t>
            </a:r>
            <a:r>
              <a:rPr sz="1050">
                <a:solidFill>
                  <a:srgbClr val="9FC7C4"/>
                </a:solidFill>
                <a:latin typeface="Consolas"/>
              </a:rPr>
              <a:t># n = |T|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  lps = BUILD_LPS(P);  j = 0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    for i in 0 .. n-1:                 </a:t>
            </a:r>
            <a:r>
              <a:rPr sz="1050">
                <a:solidFill>
                  <a:srgbClr val="9FC7C4"/>
                </a:solidFill>
                <a:latin typeface="Consolas"/>
              </a:rPr>
              <a:t># i never decreases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        while j &gt; 0 and T[i] != P[j]: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          j = lps[j-1]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        if T[i] == P[j]:  j = j + 1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        if j == m: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          REPORT match at i - m + 1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          j = lps[j-1]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783080"/>
            <a:ext cx="4419600" cy="3703320"/>
          </a:xfrm>
          <a:prstGeom prst="roundRect">
            <a:avLst>
              <a:gd name="adj" fmla="val 6000"/>
            </a:avLst>
          </a:prstGeom>
          <a:solidFill>
            <a:srgbClr val="0B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965960"/>
            <a:ext cx="396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2C39A"/>
                </a:solidFill>
                <a:latin typeface="Calibri"/>
              </a:rPr>
              <a:t>HOW IT WORKS</a:t>
            </a:r>
          </a:p>
        </p:txBody>
      </p:sp>
      <p:sp>
        <p:nvSpPr>
          <p:cNvPr id="9" name="Oval 8"/>
          <p:cNvSpPr/>
          <p:nvPr/>
        </p:nvSpPr>
        <p:spPr>
          <a:xfrm>
            <a:off x="7406640" y="237744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23436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31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mbria"/>
              </a:rPr>
              <a:t>Preprocess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5877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FE8E5"/>
                </a:solidFill>
                <a:latin typeface="Calibri"/>
              </a:rPr>
              <a:t>lps[i] = longest proper prefix of P[0..i] that is also a suffix.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0" y="310896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23436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063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mbria"/>
              </a:rPr>
              <a:t>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3192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FE8E5"/>
                </a:solidFill>
                <a:latin typeface="Calibri"/>
              </a:rPr>
              <a:t>Compare T[i] with P[j]; on mismatch jump j ← lps[j−1], keep i.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384048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23436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794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mbria"/>
              </a:rPr>
              <a:t>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0507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FE8E5"/>
                </a:solidFill>
                <a:latin typeface="Calibri"/>
              </a:rPr>
              <a:t>When j reaches m a match starts at i − m + 1; continue scanning.</a:t>
            </a:r>
          </a:p>
        </p:txBody>
      </p:sp>
      <p:sp>
        <p:nvSpPr>
          <p:cNvPr id="18" name="Oval 17"/>
          <p:cNvSpPr/>
          <p:nvPr/>
        </p:nvSpPr>
        <p:spPr>
          <a:xfrm>
            <a:off x="7406640" y="457200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23436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526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mbria"/>
              </a:rPr>
              <a:t>Project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823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FE8E5"/>
                </a:solidFill>
                <a:latin typeface="Calibri"/>
              </a:rPr>
              <a:t>Run once per course over title + tags + description; highlight positions.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623560"/>
            <a:ext cx="10911840" cy="502920"/>
          </a:xfrm>
          <a:prstGeom prst="roundRect">
            <a:avLst>
              <a:gd name="adj" fmla="val 6000"/>
            </a:avLst>
          </a:prstGeom>
          <a:solidFill>
            <a:srgbClr val="0B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Calibri"/>
              </a:rPr>
              <a:t>COMPLEXITY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623560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CFE8E5"/>
                </a:solidFill>
                <a:latin typeface="Calibri"/>
              </a:rPr>
              <a:t>Time O(n + m) · Space O(m) · at most 2n character comparisons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FC7C4"/>
                </a:solidFill>
                <a:latin typeface="Calibri"/>
              </a:rPr>
              <a:t>Course Recommendation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FC7C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CORE • COURSE OUTCOME 3 (CO3)</a:t>
            </a:r>
            <a:endParaRPr lang="en-US" sz="1200" dirty="0"/>
          </a:p>
        </p:txBody>
      </p:sp>
      <p:sp>
        <p:nvSpPr>
          <p:cNvPr id="3" name="Text 3"/>
          <p:cNvSpPr/>
          <p:nvPr/>
        </p:nvSpPr>
        <p:spPr>
          <a:xfrm>
            <a:off x="6400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Bitmask Dynamic Programming</a:t>
            </a:r>
            <a:endParaRPr lang="en-US" sz="2800" dirty="0"/>
          </a:p>
        </p:txBody>
      </p:sp>
      <p:sp>
        <p:nvSpPr>
          <p:cNvPr id="4" name="Text 4"/>
          <p:cNvSpPr/>
          <p:nvPr/>
        </p:nvSpPr>
        <p:spPr>
          <a:xfrm>
            <a:off x="640080" y="126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over course subsets: builds the optimal course bundle by tracking which prerequisites are already covered.</a:t>
            </a:r>
            <a:endParaRPr lang="en-US" sz="1300" dirty="0"/>
          </a:p>
        </p:txBody>
      </p:sp>
      <p:sp>
        <p:nvSpPr>
          <p:cNvPr id="5" name="Card 5"/>
          <p:cNvSpPr/>
          <p:nvPr/>
        </p:nvSpPr>
        <p:spPr>
          <a:xfrm>
            <a:off x="640080" y="1783080"/>
            <a:ext cx="5364480" cy="3108960"/>
          </a:xfrm>
          <a:prstGeom prst="roundRect">
            <a:avLst>
              <a:gd name="adj" fmla="val 3200"/>
            </a:avLst>
          </a:prstGeom>
          <a:solidFill>
            <a:srgbClr val="064D50"/>
          </a:solidFill>
          <a:ln/>
        </p:spPr>
      </p:sp>
      <p:sp>
        <p:nvSpPr>
          <p:cNvPr id="6" name="Text 6"/>
          <p:cNvSpPr/>
          <p:nvPr/>
        </p:nvSpPr>
        <p:spPr>
          <a:xfrm>
            <a:off x="914400" y="2011680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 IT</a:t>
            </a:r>
            <a:endParaRPr lang="en-US" sz="1300" dirty="0"/>
          </a:p>
        </p:txBody>
      </p:sp>
      <p:sp>
        <p:nvSpPr>
          <p:cNvPr id="7" name="Bullets 7"/>
          <p:cNvSpPr/>
          <p:nvPr/>
        </p:nvSpPr>
        <p:spPr>
          <a:xfrm>
            <a:off x="914400" y="2468880"/>
            <a:ext cx="4815840" cy="22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the final course bundle to recommend within a learner’s semester credit-hour cap.</a:t>
            </a:r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which prerequisite-linked courses to include together so every dependency is already satisfied.</a:t>
            </a:r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step after the heap has shortlisted ~15–20 candidates — choosing the best subset among them.</a:t>
            </a:r>
          </a:p>
        </p:txBody>
      </p:sp>
      <p:sp>
        <p:nvSpPr>
          <p:cNvPr id="8" name="Card 8"/>
          <p:cNvSpPr/>
          <p:nvPr/>
        </p:nvSpPr>
        <p:spPr>
          <a:xfrm>
            <a:off x="6187440" y="1783080"/>
            <a:ext cx="5364480" cy="3108960"/>
          </a:xfrm>
          <a:prstGeom prst="roundRect">
            <a:avLst>
              <a:gd name="adj" fmla="val 3200"/>
            </a:avLst>
          </a:prstGeom>
          <a:solidFill>
            <a:srgbClr val="064D50"/>
          </a:solidFill>
          <a:ln/>
        </p:spPr>
      </p:sp>
      <p:sp>
        <p:nvSpPr>
          <p:cNvPr id="9" name="Text 9"/>
          <p:cNvSpPr/>
          <p:nvPr/>
        </p:nvSpPr>
        <p:spPr>
          <a:xfrm>
            <a:off x="6461760" y="2011680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ALGORITHM</a:t>
            </a:r>
            <a:endParaRPr lang="en-US" sz="1300" dirty="0"/>
          </a:p>
        </p:txBody>
      </p:sp>
      <p:sp>
        <p:nvSpPr>
          <p:cNvPr id="10" name="Bullets 10"/>
          <p:cNvSpPr/>
          <p:nvPr/>
        </p:nvSpPr>
        <p:spPr>
          <a:xfrm>
            <a:off x="6461760" y="2468880"/>
            <a:ext cx="4815840" cy="22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set is small (≤20 courses), so 2ⁿ subset states stay cheap — fast AND exact, not a guess.</a:t>
            </a:r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naturally encodes prerequisites: a course only enters a subset once its prerequisites are already inside it.</a:t>
            </a:r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subproblems are reused, beating brute-force ordering (O(n!)) with O(2ⁿ·n) time.</a:t>
            </a:r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mathematically optimal bundle for the credit budget — not just a locally greedy pick.</a:t>
            </a:r>
          </a:p>
        </p:txBody>
      </p:sp>
      <p:sp>
        <p:nvSpPr>
          <p:cNvPr id="11" name="Card 11"/>
          <p:cNvSpPr/>
          <p:nvPr/>
        </p:nvSpPr>
        <p:spPr>
          <a:xfrm>
            <a:off x="640080" y="5120640"/>
            <a:ext cx="10911840" cy="731520"/>
          </a:xfrm>
          <a:prstGeom prst="roundRect">
            <a:avLst>
              <a:gd name="adj" fmla="val 3200"/>
            </a:avLst>
          </a:prstGeom>
          <a:solidFill>
            <a:srgbClr val="064D50"/>
          </a:solidFill>
          <a:ln/>
        </p:spPr>
      </p:sp>
      <p:sp>
        <p:nvSpPr>
          <p:cNvPr id="12" name="Text 12"/>
          <p:cNvSpPr/>
          <p:nvPr/>
        </p:nvSpPr>
        <p:spPr>
          <a:xfrm>
            <a:off x="914400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13" name="Text 13"/>
          <p:cNvSpPr/>
          <p:nvPr/>
        </p:nvSpPr>
        <p:spPr>
          <a:xfrm>
            <a:off x="3840480" y="5120640"/>
            <a:ext cx="873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O(2ⁿ·n) time, O(2ⁿ) space — where n is the number of shortlisted candidate courses (typically ≤ 20).</a:t>
            </a:r>
            <a:endParaRPr lang="en-US" sz="1250" dirty="0"/>
          </a:p>
        </p:txBody>
      </p:sp>
      <p:sp>
        <p:nvSpPr>
          <p:cNvPr id="14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Recommendation System</a:t>
            </a:r>
            <a:endParaRPr lang="en-US" sz="900" dirty="0"/>
          </a:p>
        </p:txBody>
      </p:sp>
      <p:sp>
        <p:nvSpPr>
          <p:cNvPr id="15" name="Text 1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8096" y="22860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22860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42616" y="2971800"/>
            <a:ext cx="320040" cy="0"/>
          </a:xfrm>
          <a:prstGeom prst="line">
            <a:avLst/>
          </a:prstGeom>
          <a:noFill/>
          <a:ln w="25400">
            <a:solidFill>
              <a:srgbClr val="5C747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62656" y="22860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62656" y="22860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37176" y="2971800"/>
            <a:ext cx="320040" cy="0"/>
          </a:xfrm>
          <a:prstGeom prst="line">
            <a:avLst/>
          </a:prstGeom>
          <a:noFill/>
          <a:ln w="25400">
            <a:solidFill>
              <a:srgbClr val="5C74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57216" y="22860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57216" y="22860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&amp;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Engine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31736" y="2971800"/>
            <a:ext cx="320040" cy="0"/>
          </a:xfrm>
          <a:prstGeom prst="line">
            <a:avLst/>
          </a:prstGeom>
          <a:noFill/>
          <a:ln w="25400">
            <a:solidFill>
              <a:srgbClr val="5C7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51776" y="22860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51776" y="22860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Ranking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(Heap)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26296" y="2971800"/>
            <a:ext cx="320040" cy="0"/>
          </a:xfrm>
          <a:prstGeom prst="line">
            <a:avLst/>
          </a:prstGeom>
          <a:noFill/>
          <a:ln w="25400">
            <a:solidFill>
              <a:srgbClr val="5C74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546336" y="22860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B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46336" y="22860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2062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right: raw learner input is cleaned, matched against the course graph using similarity scoring, ranked with a max-heap, and the top results are returned to the learner.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645920" y="5212080"/>
            <a:ext cx="2834640" cy="502920"/>
          </a:xfrm>
          <a:prstGeom prst="roundRect">
            <a:avLst>
              <a:gd name="adj" fmla="val 50909"/>
            </a:avLst>
          </a:prstGeom>
          <a:solidFill>
            <a:srgbClr val="E4F2F1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0" y="5212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DB (Hash Map)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5212080"/>
            <a:ext cx="2834640" cy="502920"/>
          </a:xfrm>
          <a:prstGeom prst="roundRect">
            <a:avLst>
              <a:gd name="adj" fmla="val 50909"/>
            </a:avLst>
          </a:prstGeom>
          <a:solidFill>
            <a:srgbClr val="E4F2F1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5212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Graph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80960" y="5212080"/>
            <a:ext cx="2834640" cy="502920"/>
          </a:xfrm>
          <a:prstGeom prst="roundRect">
            <a:avLst>
              <a:gd name="adj" fmla="val 50909"/>
            </a:avLst>
          </a:prstGeom>
          <a:solidFill>
            <a:srgbClr val="E4F2F1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5212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Recommendation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/>
      <p:sp>
        <p:nvSpPr>
          <p:cNvPr id="2" name="Text 2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CORE • COURSE OUTCOME 4 (CO4)</a:t>
            </a:r>
            <a:endParaRPr lang="en-US" sz="1200" dirty="0"/>
          </a:p>
        </p:txBody>
      </p:sp>
      <p:sp>
        <p:nvSpPr>
          <p:cNvPr id="3" name="Text 3"/>
          <p:cNvSpPr/>
          <p:nvPr/>
        </p:nvSpPr>
        <p:spPr>
          <a:xfrm>
            <a:off x="6400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 Allocation via Max-Flow</a:t>
            </a:r>
            <a:endParaRPr lang="en-US" sz="2800" dirty="0"/>
          </a:p>
        </p:txBody>
      </p:sp>
      <p:sp>
        <p:nvSpPr>
          <p:cNvPr id="4" name="Text 4"/>
          <p:cNvSpPr/>
          <p:nvPr/>
        </p:nvSpPr>
        <p:spPr>
          <a:xfrm>
            <a:off x="640080" y="126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and course seats form a flow network: the max-flow is the largest conflict-free learner-to-course assignment.</a:t>
            </a:r>
            <a:endParaRPr lang="en-US" sz="1300" dirty="0"/>
          </a:p>
        </p:txBody>
      </p:sp>
      <p:sp>
        <p:nvSpPr>
          <p:cNvPr id="5" name="Card 5"/>
          <p:cNvSpPr/>
          <p:nvPr/>
        </p:nvSpPr>
        <p:spPr>
          <a:xfrm>
            <a:off x="640080" y="1783080"/>
            <a:ext cx="5364480" cy="3108960"/>
          </a:xfrm>
          <a:prstGeom prst="roundRect">
            <a:avLst>
              <a:gd name="adj" fmla="val 3200"/>
            </a:avLst>
          </a:prstGeom>
          <a:solidFill>
            <a:srgbClr val="064D50"/>
          </a:solidFill>
          <a:ln/>
        </p:spPr>
      </p:sp>
      <p:sp>
        <p:nvSpPr>
          <p:cNvPr id="6" name="Text 6"/>
          <p:cNvSpPr/>
          <p:nvPr/>
        </p:nvSpPr>
        <p:spPr>
          <a:xfrm>
            <a:off x="914400" y="2011680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 IT</a:t>
            </a:r>
            <a:endParaRPr lang="en-US" sz="1300" dirty="0"/>
          </a:p>
        </p:txBody>
      </p:sp>
      <p:sp>
        <p:nvSpPr>
          <p:cNvPr id="7" name="Bullets 7"/>
          <p:cNvSpPr/>
          <p:nvPr/>
        </p:nvSpPr>
        <p:spPr>
          <a:xfrm>
            <a:off x="914400" y="2468880"/>
            <a:ext cx="4815840" cy="22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learners to their top-recommended courses when each course has a limited number of seats.</a:t>
            </a:r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enrolment so popular courses are not oversubscribed while eligible learners still get a valid seat.</a:t>
            </a:r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many-to-many preferences — a learner ranks several courses and a course can accept several learners.</a:t>
            </a:r>
          </a:p>
        </p:txBody>
      </p:sp>
      <p:sp>
        <p:nvSpPr>
          <p:cNvPr id="8" name="Card 8"/>
          <p:cNvSpPr/>
          <p:nvPr/>
        </p:nvSpPr>
        <p:spPr>
          <a:xfrm>
            <a:off x="6187440" y="1783080"/>
            <a:ext cx="5364480" cy="3108960"/>
          </a:xfrm>
          <a:prstGeom prst="roundRect">
            <a:avLst>
              <a:gd name="adj" fmla="val 3200"/>
            </a:avLst>
          </a:prstGeom>
          <a:solidFill>
            <a:srgbClr val="064D50"/>
          </a:solidFill>
          <a:ln/>
        </p:spPr>
      </p:sp>
      <p:sp>
        <p:nvSpPr>
          <p:cNvPr id="9" name="Text 9"/>
          <p:cNvSpPr/>
          <p:nvPr/>
        </p:nvSpPr>
        <p:spPr>
          <a:xfrm>
            <a:off x="6461760" y="2011680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ALGORITHM</a:t>
            </a:r>
            <a:endParaRPr lang="en-US" sz="1300" dirty="0"/>
          </a:p>
        </p:txBody>
      </p:sp>
      <p:sp>
        <p:nvSpPr>
          <p:cNvPr id="10" name="Bullets 10"/>
          <p:cNvSpPr/>
          <p:nvPr/>
        </p:nvSpPr>
        <p:spPr>
          <a:xfrm>
            <a:off x="6461760" y="2468880"/>
            <a:ext cx="4815840" cy="22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Learner → Course → Sink with capacity-1 learner edges and seat-count course edges maps directly to bipartite matching.</a:t>
            </a:r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Max-flow (Edmonds–Karp / Dinic) guarantees the maximum number of learners placed — greedy first-come allocation cannot.</a:t>
            </a:r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limits, prerequisites and eligibility are all expressed as edge capacities, so constraints are enforced by the graph itself.</a:t>
            </a:r>
          </a:p>
          <a:p>
            <a:pPr marL="228600" indent="-228600">
              <a:lnSpc>
                <a:spcPct val="118000"/>
              </a:lnSpc>
              <a:spcAft>
                <a:spcPts val="900"/>
              </a:spcAft>
              <a:buFont typeface="Arial" pitchFamily="34" charset="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the existing course graph and hash-map indices; augmenting paths make re-allocation cheap when a learner drops a course.</a:t>
            </a:r>
          </a:p>
        </p:txBody>
      </p:sp>
      <p:sp>
        <p:nvSpPr>
          <p:cNvPr id="11" name="Card 11"/>
          <p:cNvSpPr/>
          <p:nvPr/>
        </p:nvSpPr>
        <p:spPr>
          <a:xfrm>
            <a:off x="640080" y="5120640"/>
            <a:ext cx="10911840" cy="731520"/>
          </a:xfrm>
          <a:prstGeom prst="roundRect">
            <a:avLst>
              <a:gd name="adj" fmla="val 3200"/>
            </a:avLst>
          </a:prstGeom>
          <a:solidFill>
            <a:srgbClr val="064D50"/>
          </a:solidFill>
          <a:ln/>
        </p:spPr>
      </p:sp>
      <p:sp>
        <p:nvSpPr>
          <p:cNvPr id="12" name="Text 12"/>
          <p:cNvSpPr/>
          <p:nvPr/>
        </p:nvSpPr>
        <p:spPr>
          <a:xfrm>
            <a:off x="914400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13" name="Text 13"/>
          <p:cNvSpPr/>
          <p:nvPr/>
        </p:nvSpPr>
        <p:spPr>
          <a:xfrm>
            <a:off x="3840480" y="5120640"/>
            <a:ext cx="873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O(V·E²) time (Edmonds–Karp), O(V + E) space — where V = learners + courses + 2 and E = preference edges.</a:t>
            </a:r>
            <a:endParaRPr lang="en-US" sz="1250" dirty="0"/>
          </a:p>
        </p:txBody>
      </p:sp>
      <p:sp>
        <p:nvSpPr>
          <p:cNvPr id="14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Recommendation System</a:t>
            </a:r>
            <a:endParaRPr lang="en-US" sz="900" dirty="0"/>
          </a:p>
        </p:txBody>
      </p:sp>
      <p:sp>
        <p:nvSpPr>
          <p:cNvPr id="15" name="Text 1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Calibri"/>
              </a:rPr>
              <a:t>DSA CORE • COURSE OUTCOME 4 (CO4) • 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Max-Flow — Edmonds–Karp for Seat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E8E5"/>
                </a:solidFill>
                <a:latin typeface="Calibri"/>
              </a:rPr>
              <a:t>Build the flow network, then repeatedly find the shortest augmenting path with BFS until no path remains.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6309360" cy="3703320"/>
          </a:xfrm>
          <a:prstGeom prst="roundRect">
            <a:avLst>
              <a:gd name="adj" fmla="val 6000"/>
            </a:avLst>
          </a:prstGeom>
          <a:solidFill>
            <a:srgbClr val="012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5852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function BUILD_NETWORK(learners, courses):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    for each learner L:   cap[S][L] = 1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    for each preference (L, C): cap[L][C] = 1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    for each course C:    cap[C][T] = seats[C]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function EDMONDS_KARP(cap, S, T):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  flow = 0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    loop: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      parent = BFS(cap, S, T)      </a:t>
            </a:r>
            <a:r>
              <a:rPr sz="1050">
                <a:solidFill>
                  <a:srgbClr val="9FC7C4"/>
                </a:solidFill>
                <a:latin typeface="Consolas"/>
              </a:rPr>
              <a:t># shortest path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        if T not reached: break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      b = min residual cap on path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        for (u, v) on path: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          cap[u][v] -= b            </a:t>
            </a:r>
            <a:r>
              <a:rPr sz="1050">
                <a:solidFill>
                  <a:srgbClr val="9FC7C4"/>
                </a:solidFill>
                <a:latin typeface="Consolas"/>
              </a:rPr>
              <a:t># forward edge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          cap[v][u] += b            </a:t>
            </a:r>
            <a:r>
              <a:rPr sz="1050">
                <a:solidFill>
                  <a:srgbClr val="9FC7C4"/>
                </a:solidFill>
                <a:latin typeface="Consolas"/>
              </a:rPr>
              <a:t># reverse edge</a:t>
            </a: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        flow += b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onsolas"/>
              </a:rPr>
              <a:t>    return flow                        </a:t>
            </a:r>
            <a:r>
              <a:rPr sz="1050">
                <a:solidFill>
                  <a:srgbClr val="9FC7C4"/>
                </a:solidFill>
                <a:latin typeface="Consolas"/>
              </a:rPr>
              <a:t># = learners placed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050">
                <a:solidFill>
                  <a:srgbClr val="FFFFFF"/>
                </a:solidFill>
                <a:latin typeface="Consolas"/>
              </a:rPr>
              <a:t>ASSIGN(L) = C  where flow on edge L→C is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783080"/>
            <a:ext cx="4419600" cy="3703320"/>
          </a:xfrm>
          <a:prstGeom prst="roundRect">
            <a:avLst>
              <a:gd name="adj" fmla="val 6000"/>
            </a:avLst>
          </a:prstGeom>
          <a:solidFill>
            <a:srgbClr val="0B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965960"/>
            <a:ext cx="396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2C39A"/>
                </a:solidFill>
                <a:latin typeface="Calibri"/>
              </a:rPr>
              <a:t>HOW IT WORKS</a:t>
            </a:r>
          </a:p>
        </p:txBody>
      </p:sp>
      <p:sp>
        <p:nvSpPr>
          <p:cNvPr id="9" name="Oval 8"/>
          <p:cNvSpPr/>
          <p:nvPr/>
        </p:nvSpPr>
        <p:spPr>
          <a:xfrm>
            <a:off x="7406640" y="237744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23436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31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mbria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5877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FE8E5"/>
                </a:solidFill>
                <a:latin typeface="Calibri"/>
              </a:rPr>
              <a:t>Bipartite learners × courses with unit learner edges and seat-capacity course edges.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0" y="310896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23436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063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mbria"/>
              </a:rPr>
              <a:t>Augment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3192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FE8E5"/>
                </a:solidFill>
                <a:latin typeface="Calibri"/>
              </a:rPr>
              <a:t>BFS finds a path S→L→C→T with spare capacity; push 1 unit of flow.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384048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23436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794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mbria"/>
              </a:rPr>
              <a:t>Re-assign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0507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FE8E5"/>
                </a:solidFill>
                <a:latin typeface="Calibri"/>
              </a:rPr>
              <a:t>Reverse edges let a later path move an earlier learner to another course.</a:t>
            </a:r>
          </a:p>
        </p:txBody>
      </p:sp>
      <p:sp>
        <p:nvSpPr>
          <p:cNvPr id="18" name="Oval 17"/>
          <p:cNvSpPr/>
          <p:nvPr/>
        </p:nvSpPr>
        <p:spPr>
          <a:xfrm>
            <a:off x="7406640" y="457200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23436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526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mbria"/>
              </a:rPr>
              <a:t>Terminate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823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FE8E5"/>
                </a:solidFill>
                <a:latin typeface="Calibri"/>
              </a:rPr>
              <a:t>No augmenting path ⇒ flow is maximum (max-flow / min-cut theorem).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623560"/>
            <a:ext cx="10911840" cy="502920"/>
          </a:xfrm>
          <a:prstGeom prst="roundRect">
            <a:avLst>
              <a:gd name="adj" fmla="val 6000"/>
            </a:avLst>
          </a:prstGeom>
          <a:solidFill>
            <a:srgbClr val="0B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Calibri"/>
              </a:rPr>
              <a:t>COMPLEXITY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623560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CFE8E5"/>
                </a:solidFill>
                <a:latin typeface="Calibri"/>
              </a:rPr>
              <a:t>Time O(V·E²) · Space O(V + E) · V = learners + courses + 2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FC7C4"/>
                </a:solidFill>
                <a:latin typeface="Calibri"/>
              </a:rPr>
              <a:t>Course Recommendation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FC7C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FEE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course metadata (title, tags, prerequisites) and learner history/ratings.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3246120"/>
            <a:ext cx="137160" cy="0"/>
          </a:xfrm>
          <a:prstGeom prst="line">
            <a:avLst/>
          </a:prstGeom>
          <a:noFill/>
          <a:ln w="19050">
            <a:solidFill>
              <a:srgbClr val="5C74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88920" y="19202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FEE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19202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Structures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30175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the hash map index, prerequisite graph, and tag vectors.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246120"/>
            <a:ext cx="137160" cy="0"/>
          </a:xfrm>
          <a:prstGeom prst="line">
            <a:avLst/>
          </a:prstGeom>
          <a:noFill/>
          <a:ln w="19050">
            <a:solidFill>
              <a:srgbClr val="5C74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37760" y="19202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FEE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9202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Scores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30175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similarity between learner interest vector and each course vector.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3246120"/>
            <a:ext cx="137160" cy="0"/>
          </a:xfrm>
          <a:prstGeom prst="line">
            <a:avLst/>
          </a:prstGeom>
          <a:noFill/>
          <a:ln w="19050">
            <a:solidFill>
              <a:srgbClr val="5C747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86600" y="19202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FEE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86600" y="19202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with Heap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30175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scored courses into a max-heap; pop the top-N as recommendations.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98280" y="3246120"/>
            <a:ext cx="137160" cy="0"/>
          </a:xfrm>
          <a:prstGeom prst="line">
            <a:avLst/>
          </a:prstGeom>
          <a:noFill/>
          <a:ln w="19050">
            <a:solidFill>
              <a:srgbClr val="5C747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235440" y="19202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FEE"/>
            </a:solidFill>
            <a:prstDash val="solid"/>
          </a:ln>
          <a:effectLst>
            <a:outerShdw sx="100000" sy="100000" kx="0" ky="0" algn="bl" rotWithShape="0" blurRad="63500" dist="25400" dir="5400000">
              <a:srgbClr val="1B2B2B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35440" y="19202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923544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7260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&amp; Display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372600" y="30175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completed/ineligible courses and present the final ranked list.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Recommendation 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 &amp; Results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669280" cy="2377440"/>
        </p:xfrm>
        <a:graphic>
          <a:graphicData uri="http://schemas.openxmlformats.org/drawingml/2006/table">
            <a:tbl>
              <a:tblPr/>
              <a:tblGrid>
                <a:gridCol w="914400"/>
                <a:gridCol w="3840480"/>
                <a:gridCol w="914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Structures in 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Graph Algorithms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 to Machine 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Systems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60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ranked output for a learner interested in “Algorithms &amp; Data”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675120" y="169164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F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3720" y="16916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O(log K)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549640" y="16916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cost per candidate using the heap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274320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F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03720" y="27432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549640" y="27432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top-1 relevance in test cases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75120" y="379476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F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03720" y="3794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549640" y="3794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course/user lookup via hashing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Recommendation System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8483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graphs, hashing, and heaps gives fast, personalized course recommendations.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6207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157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respects prerequisite structure while ranking by learner-specific relevance.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63931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930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DSA concepts translate directly into a practical, real-world application.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691640"/>
            <a:ext cx="0" cy="4023360"/>
          </a:xfrm>
          <a:prstGeom prst="line">
            <a:avLst/>
          </a:prstGeom>
          <a:noFill/>
          <a:ln w="12700">
            <a:solidFill>
              <a:srgbClr val="0E5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08483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9385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deep-learning-based embeddings for richer similarity scoring.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86207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7157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real-time feedback loops to refine recommendations as learners progress.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63931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4930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storage with a proper database and caching layer for large catalogs.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852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Recommendation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Calibri"/>
              </a:rPr>
              <a:t>IMPLEMENTATION •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Course Recommendation System —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E8E5"/>
                </a:solidFill>
                <a:latin typeface="Calibri"/>
              </a:rPr>
              <a:t>FastAPI backend (Python) + React frontend + MongoDB. Every algorithm in this deck runs live with step-by-step “How it works” panels for the viva.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20440" cy="3168967"/>
          </a:xfrm>
          <a:prstGeom prst="roundRect">
            <a:avLst>
              <a:gd name="adj" fmla="val 5000"/>
            </a:avLst>
          </a:prstGeom>
          <a:solidFill>
            <a:srgbClr val="0B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o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3337560" cy="1797367"/>
          </a:xfrm>
          <a:prstGeom prst="rect">
            <a:avLst/>
          </a:prstGeom>
          <a:ln w="9525">
            <a:solidFill>
              <a:srgbClr val="1A6B6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3900487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C39A"/>
                </a:solidFill>
                <a:latin typeface="Calibri"/>
              </a:rPr>
              <a:t>RECOMMEND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74807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FE8E5"/>
                </a:solidFill>
                <a:latin typeface="Calibri"/>
              </a:rPr>
              <a:t>Heap Top-N · Cosine similarity · Prerequisite graph · Bitmask-DP bundle · Study plan (topological sort)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780" y="1828800"/>
            <a:ext cx="3520440" cy="3168967"/>
          </a:xfrm>
          <a:prstGeom prst="roundRect">
            <a:avLst>
              <a:gd name="adj" fmla="val 5000"/>
            </a:avLst>
          </a:prstGeom>
          <a:solidFill>
            <a:srgbClr val="0B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ot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220" y="1920240"/>
            <a:ext cx="3337560" cy="1797367"/>
          </a:xfrm>
          <a:prstGeom prst="rect">
            <a:avLst/>
          </a:prstGeom>
          <a:ln w="9525">
            <a:solidFill>
              <a:srgbClr val="1A6B6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518660" y="3900487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C39A"/>
                </a:solidFill>
                <a:latin typeface="Calibri"/>
              </a:rPr>
              <a:t>KMP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8660" y="4174807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FE8E5"/>
                </a:solidFill>
                <a:latin typeface="Calibri"/>
              </a:rPr>
              <a:t>Trie autocomplete · KMP match highlighting · LPS table · KMP vs naive comparison 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1480" y="1828800"/>
            <a:ext cx="3520440" cy="3168967"/>
          </a:xfrm>
          <a:prstGeom prst="roundRect">
            <a:avLst>
              <a:gd name="adj" fmla="val 5000"/>
            </a:avLst>
          </a:prstGeom>
          <a:solidFill>
            <a:srgbClr val="0B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ot_alloc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920" y="1920240"/>
            <a:ext cx="3337560" cy="1797367"/>
          </a:xfrm>
          <a:prstGeom prst="rect">
            <a:avLst/>
          </a:prstGeom>
          <a:ln w="9525">
            <a:solidFill>
              <a:srgbClr val="1A6B69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214360" y="3900487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C39A"/>
                </a:solidFill>
                <a:latin typeface="Calibri"/>
              </a:rPr>
              <a:t>SEAT ALLOCATION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360" y="4174807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FE8E5"/>
                </a:solidFill>
                <a:latin typeface="Calibri"/>
              </a:rPr>
              <a:t>Edmonds–Karp animation · Augmenting paths · Editable seats · CSV / PDF report export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26367"/>
            <a:ext cx="10911840" cy="502920"/>
          </a:xfrm>
          <a:prstGeom prst="roundRect">
            <a:avLst>
              <a:gd name="adj" fmla="val 15000"/>
            </a:avLst>
          </a:prstGeom>
          <a:solidFill>
            <a:srgbClr val="0B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26367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Calibri"/>
              </a:rPr>
              <a:t>TRY IT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226367"/>
            <a:ext cx="8595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FE8E5"/>
                </a:solidFill>
                <a:latin typeface="Calibri"/>
              </a:rPr>
              <a:t>https://course-match-engine-1.preview.emergentagent.com   ·   Tech: Python 3 · FastAPI · React 19 · MongoDB · python-pptx · reportlab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FC7C4"/>
                </a:solidFill>
                <a:latin typeface="Calibri"/>
              </a:rPr>
              <a:t>Course Recommendation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FC7C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2026-09-12T02:58:28Z</dcterms:created>
  <dcterms:modified xsi:type="dcterms:W3CDTF">2026-09-12T02:58:28Z</dcterms:modified>
</cp:coreProperties>
</file>